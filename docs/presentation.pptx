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Здравствуйте! Меня зовут Арман, я ученик 8 класса. Тема моего проекта — «Домашка под контролем»: это веб-приложение, которое помогает школьникам планировать домашние задания и вовремя о них вспоминать.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Я выбрал сценарий продуктового проекта: моя задача — не только изучить тему, но и создать реальный продукт, которым смогут пользоваться одноклассники. Проект относится к информатике и программированию, а также к тайм-менеджменту — умению планировать своё время.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 8 классе появляются новые предметы, растёт объём домашних заданий, добавляются кружки и секции. Многие забывают о заданиях или делают их в последний момент. Поэтому тема актуальна, и мой проект поможет ученикам вовремя выполнять домашние задания и меньше переживать из-за сроков.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Проблема: школьники забывают о домашних заданиях и откладывают их на последний момент. Задания записываются в разных местах. Электронный дневник не напоминает о них заранее. А большие задания часто делаются в последний вечер.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Цель моего проекта — создать веб-приложение, которое помогает школьникам записывать домашние задания, планировать их выполнение и получать напоминания о сроках. Для этого пять задач: опрос одноклассников, изучение Python и aiogram, проектирование архитектуры, написание и тестирование бота, проверка гипотезы.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Основная целевая аудитория — ученики 5–9 классов: у них уже много предметов и заданий, и почти у всех есть смартфон с браузером. Дополнительная аудитория — родители и учителя.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Продуктовый результат — работающее веб-приложение. Оно записывает задания, показывает список дел, присылает напоминания, делит большие задания на шаги, отмечает выполненное и подводит итоги недели.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Архитектура из трёх уровней. Интерфейс — страница в браузере на HTML и CSS: форма, список заданий, напоминания. Логика — «мозг» на JavaScript: модуль заданий, проверка напоминаний и модуль статистики. Данные — «память» в хранилище браузера: задания, шаги и настройки. Сервер и регистрация не нужны.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Пример одной недели: ученик открывает сайт и выбирает время напоминаний, добавляет задание «Алгебра, № 215» на четверг, в среду в 18:00 видит напоминание, делает задание и отмечает его выполненным, а в воскресенье смотрит итоги недели. Работает в любом браузере.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Гипотеза: если ученики будут записывать домашние задания в веб-приложение и получать от него напоминания, то они станут реже забывать о заданиях и реже делать их в последний вечер.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Эксперимент в три этапа: две недели без приложения, две недели с приложением, затем анкета об удобстве. Гипотеза подтвердится, если на втором этапе забытых заданий станет меньше.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Спасибо за внимание! Приложение можно открыть по QR-коду или по адресу на слайде. Сейчас я покажу его вживую, а потом готов ответить на ваши вопросы.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509000" y="0"/>
            <a:ext cx="3683000" cy="6858000"/>
          </a:xfrm>
          <a:prstGeom prst="rect">
            <a:avLst/>
          </a:prstGeom>
          <a:solidFill>
            <a:srgbClr val="E0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9000" y="2159000"/>
            <a:ext cx="3683000" cy="25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0" b="1">
                <a:solidFill>
                  <a:srgbClr val="1E2A44"/>
                </a:solidFill>
                <a:latin typeface="Arial"/>
              </a:rPr>
              <a:t>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812800"/>
            <a:ext cx="698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2994A"/>
                </a:solidFill>
                <a:latin typeface="Arial"/>
              </a:rPr>
              <a:t>ИНДИВИДУАЛЬНЫЙ ПРОЕКТ · 8 КЛАСС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1524000"/>
            <a:ext cx="6985000" cy="190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>
                <a:solidFill>
                  <a:srgbClr val="F6F4EE"/>
                </a:solidFill>
                <a:latin typeface="Arial"/>
              </a:rPr>
              <a:t>Домашка под контролем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2800" y="4064000"/>
            <a:ext cx="69850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C9D3E6"/>
                </a:solidFill>
                <a:latin typeface="Arial"/>
              </a:rPr>
              <a:t>Веб-приложение, которое помогает школьнику планировать домашние задания и не забывать о сроках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" y="5461000"/>
            <a:ext cx="7302500" cy="63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F6F4EE"/>
                </a:solidFill>
                <a:latin typeface="Arial"/>
              </a:rPr>
              <a:t>Автор: Джасимов Арман, ученик 8 «Б» класса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C9D3E6"/>
                </a:solidFill>
                <a:latin typeface="Arial"/>
              </a:rPr>
              <a:t>Руководитель: Ковальская Елена Андреевна · ГБОУ школа № 206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4531F"/>
                </a:solidFill>
                <a:latin typeface="Arial"/>
              </a:rPr>
              <a:t>ТЕМА ПРОЕКТА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17600"/>
            <a:ext cx="105664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1E2A44"/>
                </a:solidFill>
                <a:latin typeface="Arial"/>
              </a:rPr>
              <a:t>Создание веб-приложения для планирования домашних заданий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2800" y="2794000"/>
            <a:ext cx="3384550" cy="317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E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7600" y="3048000"/>
            <a:ext cx="2794000" cy="444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0703A"/>
                </a:solidFill>
                <a:latin typeface="Arial"/>
              </a:rPr>
              <a:t>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7600" y="3619500"/>
            <a:ext cx="2794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1E2A44"/>
                </a:solidFill>
                <a:latin typeface="Arial"/>
              </a:rPr>
              <a:t>Сценарий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7600" y="4127500"/>
            <a:ext cx="2794000" cy="165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A5568"/>
                </a:solidFill>
                <a:latin typeface="Arial"/>
              </a:rPr>
              <a:t>Продуктовый проект: придумать и сделать полезный продукт, который решает реальную проблему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0550" y="2794000"/>
            <a:ext cx="3384550" cy="317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E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5350" y="3048000"/>
            <a:ext cx="2794000" cy="444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2F6FC6"/>
                </a:solidFill>
                <a:latin typeface="Arial"/>
              </a:rPr>
              <a:t>&lt;/&gt;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5350" y="3619500"/>
            <a:ext cx="2794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1E2A44"/>
                </a:solidFill>
                <a:latin typeface="Arial"/>
              </a:rPr>
              <a:t>Область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5350" y="4127500"/>
            <a:ext cx="2794000" cy="165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A5568"/>
                </a:solidFill>
                <a:latin typeface="Arial"/>
              </a:rPr>
              <a:t>Информатика и программирование, тайм-менеджмент школьника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88300" y="2794000"/>
            <a:ext cx="3384550" cy="317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E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93100" y="3048000"/>
            <a:ext cx="2794000" cy="444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0703A"/>
                </a:solidFill>
                <a:latin typeface="Arial"/>
              </a:rPr>
              <a:t>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93100" y="3619500"/>
            <a:ext cx="2794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1E2A44"/>
                </a:solidFill>
                <a:latin typeface="Arial"/>
              </a:rPr>
              <a:t>Продукт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3100" y="4127500"/>
            <a:ext cx="2794000" cy="165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A5568"/>
                </a:solidFill>
                <a:latin typeface="Arial"/>
              </a:rPr>
              <a:t>Веб-приложение «Домашка под контролем»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07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1460500"/>
            <a:ext cx="10160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E2A44"/>
                </a:solidFill>
                <a:latin typeface="Arial"/>
              </a:rPr>
              <a:t>АКТУАЛЬНОСТЬ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905000"/>
            <a:ext cx="10160000" cy="381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E2A44"/>
                </a:solidFill>
                <a:latin typeface="Arial"/>
              </a:rPr>
              <a:t>Выбранная тема актуальна, потому что у школьников с каждым годом растёт учебная нагрузка, а времени на всё не хватает. Мой проект поможет ученикам вовремя выполнять домашние задания и меньше нервничать перед сроками.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4531F"/>
                </a:solidFill>
                <a:latin typeface="Arial"/>
              </a:rPr>
              <a:t>ПРОБЛЕМА ПРОЕКТА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17600"/>
            <a:ext cx="105664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1E2A44"/>
                </a:solidFill>
                <a:latin typeface="Arial"/>
              </a:rPr>
              <a:t>Школьники забывают о домашних заданиях и откладывают их на последний момент</a:t>
            </a:r>
          </a:p>
        </p:txBody>
      </p:sp>
      <p:sp>
        <p:nvSpPr>
          <p:cNvPr id="4" name="Rectangle 3"/>
          <p:cNvSpPr/>
          <p:nvPr/>
        </p:nvSpPr>
        <p:spPr>
          <a:xfrm>
            <a:off x="812800" y="3048000"/>
            <a:ext cx="3384550" cy="50800"/>
          </a:xfrm>
          <a:prstGeom prst="rect">
            <a:avLst/>
          </a:prstGeom>
          <a:solidFill>
            <a:srgbClr val="E0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2800" y="3302000"/>
            <a:ext cx="33845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1E2A44"/>
                </a:solidFill>
                <a:latin typeface="Arial"/>
              </a:rPr>
              <a:t>Много предметов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2800" y="3810000"/>
            <a:ext cx="3384550" cy="190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4A5568"/>
                </a:solidFill>
                <a:latin typeface="Arial"/>
              </a:rPr>
              <a:t>Задания записываются в разных местах: в тетради, в чате класса, в электронном дневнике</a:t>
            </a:r>
          </a:p>
        </p:txBody>
      </p:sp>
      <p:sp>
        <p:nvSpPr>
          <p:cNvPr id="7" name="Rectangle 6"/>
          <p:cNvSpPr/>
          <p:nvPr/>
        </p:nvSpPr>
        <p:spPr>
          <a:xfrm>
            <a:off x="4400550" y="3048000"/>
            <a:ext cx="3384550" cy="50800"/>
          </a:xfrm>
          <a:prstGeom prst="rect">
            <a:avLst/>
          </a:prstGeom>
          <a:solidFill>
            <a:srgbClr val="E0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00550" y="3302000"/>
            <a:ext cx="33845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1E2A44"/>
                </a:solidFill>
                <a:latin typeface="Arial"/>
              </a:rPr>
              <a:t>Нет напоминаний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00550" y="3810000"/>
            <a:ext cx="3384550" cy="190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4A5568"/>
                </a:solidFill>
                <a:latin typeface="Arial"/>
              </a:rPr>
              <a:t>Электронный дневник показывает задания, но не напоминает о них заранее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88300" y="3048000"/>
            <a:ext cx="3384550" cy="50800"/>
          </a:xfrm>
          <a:prstGeom prst="rect">
            <a:avLst/>
          </a:prstGeom>
          <a:solidFill>
            <a:srgbClr val="E0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88300" y="3302000"/>
            <a:ext cx="33845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1E2A44"/>
                </a:solidFill>
                <a:latin typeface="Arial"/>
              </a:rPr>
              <a:t>Всё в последний день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88300" y="3810000"/>
            <a:ext cx="3384550" cy="190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4A5568"/>
                </a:solidFill>
                <a:latin typeface="Arial"/>
              </a:rPr>
              <a:t>Большие задания (доклады, проекты) откладываются, и вечер перед сдачей превращается в аврал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4953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4531F"/>
                </a:solidFill>
                <a:latin typeface="Arial"/>
              </a:rPr>
              <a:t>ЦЕЛЬ ПРОЕКТА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206500"/>
            <a:ext cx="4953000" cy="444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E2A44"/>
                </a:solidFill>
                <a:latin typeface="Arial"/>
              </a:rPr>
              <a:t>Создать веб-приложение, которое помогает школьникам записывать домашние задания, планировать их выполнение и получать напоминания о сроках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812800"/>
            <a:ext cx="4978400" cy="495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DE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756400" y="1168400"/>
            <a:ext cx="4318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F6FC6"/>
                </a:solidFill>
                <a:latin typeface="Arial"/>
              </a:rPr>
              <a:t>ЗАДАЧИ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56400" y="1587500"/>
            <a:ext cx="4318000" cy="3937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1">
                <a:solidFill>
                  <a:srgbClr val="E0703A"/>
                </a:solidFill>
                <a:latin typeface="Arial"/>
              </a:rPr>
              <a:t>1. </a:t>
            </a:r>
            <a:r>
              <a:rPr sz="1600" b="0">
                <a:solidFill>
                  <a:srgbClr val="4A5568"/>
                </a:solidFill>
                <a:latin typeface="Arial"/>
              </a:rPr>
              <a:t>Провести опрос одноклассников: как они планируют домашние задания</a:t>
            </a:r>
          </a:p>
          <a:p>
            <a:pPr algn="l">
              <a:lnSpc>
                <a:spcPct val="150000"/>
              </a:lnSpc>
            </a:pPr>
            <a:r>
              <a:rPr sz="1600" b="1">
                <a:solidFill>
                  <a:srgbClr val="E0703A"/>
                </a:solidFill>
                <a:latin typeface="Arial"/>
              </a:rPr>
              <a:t>2. </a:t>
            </a:r>
            <a:r>
              <a:rPr sz="1600" b="0">
                <a:solidFill>
                  <a:srgbClr val="4A5568"/>
                </a:solidFill>
                <a:latin typeface="Arial"/>
              </a:rPr>
              <a:t>Изучить основы HTML, CSS и JavaScript</a:t>
            </a:r>
          </a:p>
          <a:p>
            <a:pPr algn="l">
              <a:lnSpc>
                <a:spcPct val="150000"/>
              </a:lnSpc>
            </a:pPr>
            <a:r>
              <a:rPr sz="1600" b="1">
                <a:solidFill>
                  <a:srgbClr val="E0703A"/>
                </a:solidFill>
                <a:latin typeface="Arial"/>
              </a:rPr>
              <a:t>3. </a:t>
            </a:r>
            <a:r>
              <a:rPr sz="1600" b="0">
                <a:solidFill>
                  <a:srgbClr val="4A5568"/>
                </a:solidFill>
                <a:latin typeface="Arial"/>
              </a:rPr>
              <a:t>Спроектировать архитектуру приложения</a:t>
            </a:r>
          </a:p>
          <a:p>
            <a:pPr algn="l">
              <a:lnSpc>
                <a:spcPct val="150000"/>
              </a:lnSpc>
            </a:pPr>
            <a:r>
              <a:rPr sz="1600" b="1">
                <a:solidFill>
                  <a:srgbClr val="E0703A"/>
                </a:solidFill>
                <a:latin typeface="Arial"/>
              </a:rPr>
              <a:t>4. </a:t>
            </a:r>
            <a:r>
              <a:rPr sz="1600" b="0">
                <a:solidFill>
                  <a:srgbClr val="4A5568"/>
                </a:solidFill>
                <a:latin typeface="Arial"/>
              </a:rPr>
              <a:t>Написать и протестировать приложение</a:t>
            </a:r>
          </a:p>
          <a:p>
            <a:pPr algn="l">
              <a:lnSpc>
                <a:spcPct val="150000"/>
              </a:lnSpc>
            </a:pPr>
            <a:r>
              <a:rPr sz="1600" b="1">
                <a:solidFill>
                  <a:srgbClr val="E0703A"/>
                </a:solidFill>
                <a:latin typeface="Arial"/>
              </a:rPr>
              <a:t>5. </a:t>
            </a:r>
            <a:r>
              <a:rPr sz="1600" b="0">
                <a:solidFill>
                  <a:srgbClr val="4A5568"/>
                </a:solidFill>
                <a:latin typeface="Arial"/>
              </a:rPr>
              <a:t>Проверить гипотезу на группе учеников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4531F"/>
                </a:solidFill>
                <a:latin typeface="Arial"/>
              </a:rPr>
              <a:t>ЦЕЛЕВАЯ АУДИТОРИЯ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17600"/>
            <a:ext cx="105664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1E2A44"/>
                </a:solidFill>
                <a:latin typeface="Arial"/>
              </a:rPr>
              <a:t>Для кого это приложение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2800" y="2413000"/>
            <a:ext cx="4191000" cy="3556000"/>
          </a:xfrm>
          <a:prstGeom prst="roundRect">
            <a:avLst>
              <a:gd name="adj" fmla="val 6000"/>
            </a:avLst>
          </a:prstGeom>
          <a:solidFill>
            <a:srgbClr val="1E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7600" y="2730500"/>
            <a:ext cx="35814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2994A"/>
                </a:solidFill>
                <a:latin typeface="Arial"/>
              </a:rPr>
              <a:t>ОСНОВНАЯ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7600" y="3111500"/>
            <a:ext cx="3581400" cy="825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6F4EE"/>
                </a:solidFill>
                <a:latin typeface="Arial"/>
              </a:rPr>
              <a:t>Ученики 5–9 классов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7600" y="4064000"/>
            <a:ext cx="3581400" cy="177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C9D3E6"/>
                </a:solidFill>
                <a:latin typeface="Arial"/>
              </a:rPr>
              <a:t>У них уже много предметов и заданий, почти у всех есть смартфон с браузером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07000" y="2413000"/>
            <a:ext cx="2984500" cy="355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E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11800" y="2730500"/>
            <a:ext cx="23749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F6FC6"/>
                </a:solidFill>
                <a:latin typeface="Arial"/>
              </a:rPr>
              <a:t>ДОПОЛНИТЕЛЬНАЯ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11800" y="3111500"/>
            <a:ext cx="2374900" cy="825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1E2A44"/>
                </a:solidFill>
                <a:latin typeface="Arial"/>
              </a:rPr>
              <a:t>Родители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11800" y="4064000"/>
            <a:ext cx="2374900" cy="177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A5568"/>
                </a:solidFill>
                <a:latin typeface="Arial"/>
              </a:rPr>
              <a:t>Хотят, чтобы ребёнок учился самостоятельно и без вечерних авралов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94700" y="2413000"/>
            <a:ext cx="2984500" cy="355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E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99500" y="2730500"/>
            <a:ext cx="23749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F6FC6"/>
                </a:solidFill>
                <a:latin typeface="Arial"/>
              </a:rPr>
              <a:t>ДОПОЛНИТЕЛЬНАЯ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9500" y="3111500"/>
            <a:ext cx="2374900" cy="825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1E2A44"/>
                </a:solidFill>
                <a:latin typeface="Arial"/>
              </a:rPr>
              <a:t>Учителя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99500" y="4064000"/>
            <a:ext cx="2374900" cy="177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A5568"/>
                </a:solidFill>
                <a:latin typeface="Arial"/>
              </a:rPr>
              <a:t>Заинтересованы, чтобы задания сдавали вовремя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4531F"/>
                </a:solidFill>
                <a:latin typeface="Arial"/>
              </a:rPr>
              <a:t>ПРОДУКТОВЫЙ РЕЗУЛЬТАТ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17600"/>
            <a:ext cx="105664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1E2A44"/>
                </a:solidFill>
                <a:latin typeface="Arial"/>
              </a:rPr>
              <a:t>Веб-приложение «Домашка под контролем»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2800" y="2413000"/>
            <a:ext cx="3384550" cy="1651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E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400" y="2616200"/>
            <a:ext cx="2927350" cy="63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E0703A"/>
                </a:solidFill>
                <a:latin typeface="Arial"/>
              </a:rPr>
              <a:t>1  </a:t>
            </a:r>
            <a:r>
              <a:rPr sz="1800" b="1">
                <a:solidFill>
                  <a:srgbClr val="1E2A44"/>
                </a:solidFill>
                <a:latin typeface="Arial"/>
              </a:rPr>
              <a:t>Записать задание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1400" y="3302000"/>
            <a:ext cx="2927350" cy="63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4A5568"/>
                </a:solidFill>
                <a:latin typeface="Arial"/>
              </a:rPr>
              <a:t>Предмет, что задано и к какому дню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0550" y="2413000"/>
            <a:ext cx="3384550" cy="1651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E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29150" y="2616200"/>
            <a:ext cx="2927350" cy="63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E0703A"/>
                </a:solidFill>
                <a:latin typeface="Arial"/>
              </a:rPr>
              <a:t>2  </a:t>
            </a:r>
            <a:r>
              <a:rPr sz="1800" b="1">
                <a:solidFill>
                  <a:srgbClr val="1E2A44"/>
                </a:solidFill>
                <a:latin typeface="Arial"/>
              </a:rPr>
              <a:t>Список дел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29150" y="3302000"/>
            <a:ext cx="2927350" cy="63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4A5568"/>
                </a:solidFill>
                <a:latin typeface="Arial"/>
              </a:rPr>
              <a:t>Что сделать сегодня и на неделе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88300" y="2413000"/>
            <a:ext cx="3384550" cy="1651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E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6900" y="2616200"/>
            <a:ext cx="2927350" cy="63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E0703A"/>
                </a:solidFill>
                <a:latin typeface="Arial"/>
              </a:rPr>
              <a:t>3  </a:t>
            </a:r>
            <a:r>
              <a:rPr sz="1800" b="1">
                <a:solidFill>
                  <a:srgbClr val="1E2A44"/>
                </a:solidFill>
                <a:latin typeface="Arial"/>
              </a:rPr>
              <a:t>Напоминания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16900" y="3302000"/>
            <a:ext cx="2927350" cy="63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4A5568"/>
                </a:solidFill>
                <a:latin typeface="Arial"/>
              </a:rPr>
              <a:t>Накануне и в день сдачи, в удобное время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800" y="4254500"/>
            <a:ext cx="3384550" cy="1651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E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1400" y="4457700"/>
            <a:ext cx="2927350" cy="63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E0703A"/>
                </a:solidFill>
                <a:latin typeface="Arial"/>
              </a:rPr>
              <a:t>4  </a:t>
            </a:r>
            <a:r>
              <a:rPr sz="1800" b="1">
                <a:solidFill>
                  <a:srgbClr val="1E2A44"/>
                </a:solidFill>
                <a:latin typeface="Arial"/>
              </a:rPr>
              <a:t>Шаги для больших задач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1400" y="5143500"/>
            <a:ext cx="2927350" cy="63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4A5568"/>
                </a:solidFill>
                <a:latin typeface="Arial"/>
              </a:rPr>
              <a:t>Доклад делится на части по дням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00550" y="4254500"/>
            <a:ext cx="3384550" cy="1651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E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29150" y="4457700"/>
            <a:ext cx="2927350" cy="63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E0703A"/>
                </a:solidFill>
                <a:latin typeface="Arial"/>
              </a:rPr>
              <a:t>5  </a:t>
            </a:r>
            <a:r>
              <a:rPr sz="1800" b="1">
                <a:solidFill>
                  <a:srgbClr val="1E2A44"/>
                </a:solidFill>
                <a:latin typeface="Arial"/>
              </a:rPr>
              <a:t>Отметка «Готово»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29150" y="5143500"/>
            <a:ext cx="2927350" cy="63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4A5568"/>
                </a:solidFill>
                <a:latin typeface="Arial"/>
              </a:rPr>
              <a:t>Одна кнопка — задание выполнено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88300" y="4254500"/>
            <a:ext cx="3384550" cy="1651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E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16900" y="4457700"/>
            <a:ext cx="2927350" cy="63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E0703A"/>
                </a:solidFill>
                <a:latin typeface="Arial"/>
              </a:rPr>
              <a:t>6  </a:t>
            </a:r>
            <a:r>
              <a:rPr sz="1800" b="1">
                <a:solidFill>
                  <a:srgbClr val="1E2A44"/>
                </a:solidFill>
                <a:latin typeface="Arial"/>
              </a:rPr>
              <a:t>Итоги недели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16900" y="5143500"/>
            <a:ext cx="2927350" cy="63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4A5568"/>
                </a:solidFill>
                <a:latin typeface="Arial"/>
              </a:rPr>
              <a:t>Сколько сделано вовремя, а сколько — с опозданием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8D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4531F"/>
                </a:solidFill>
                <a:latin typeface="Arial"/>
              </a:rPr>
              <a:t>АРХИТЕКТУРА ПРОДУКТА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17600"/>
            <a:ext cx="105664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1E2A44"/>
                </a:solidFill>
                <a:latin typeface="Arial"/>
              </a:rPr>
              <a:t>Три уровня приложения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2800" y="2095500"/>
            <a:ext cx="10566400" cy="952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800" y="2095500"/>
            <a:ext cx="88900" cy="952500"/>
          </a:xfrm>
          <a:prstGeom prst="rect">
            <a:avLst/>
          </a:prstGeom>
          <a:solidFill>
            <a:srgbClr val="E0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2200" y="2286000"/>
            <a:ext cx="2413000" cy="317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E2A44"/>
                </a:solidFill>
                <a:latin typeface="Arial"/>
              </a:rPr>
              <a:t>Интерфейс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200" y="2654300"/>
            <a:ext cx="2413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A5568"/>
                </a:solidFill>
                <a:latin typeface="Arial"/>
              </a:rPr>
              <a:t>что видит ученик · HTML + CSS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83000" y="2273300"/>
            <a:ext cx="2413000" cy="596900"/>
          </a:xfrm>
          <a:prstGeom prst="roundRect">
            <a:avLst>
              <a:gd name="adj" fmla="val 15000"/>
            </a:avLst>
          </a:prstGeom>
          <a:solidFill>
            <a:srgbClr val="F6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84600" y="2273300"/>
            <a:ext cx="2209800" cy="596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1E2A44"/>
                </a:solidFill>
                <a:latin typeface="Arial"/>
              </a:rPr>
              <a:t>Форма добавления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23000" y="2273300"/>
            <a:ext cx="2413000" cy="596900"/>
          </a:xfrm>
          <a:prstGeom prst="roundRect">
            <a:avLst>
              <a:gd name="adj" fmla="val 15000"/>
            </a:avLst>
          </a:prstGeom>
          <a:solidFill>
            <a:srgbClr val="F6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24600" y="2273300"/>
            <a:ext cx="2209800" cy="596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1E2A44"/>
                </a:solidFill>
                <a:latin typeface="Arial"/>
              </a:rPr>
              <a:t>Список заданий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63000" y="2273300"/>
            <a:ext cx="2413000" cy="596900"/>
          </a:xfrm>
          <a:prstGeom prst="roundRect">
            <a:avLst>
              <a:gd name="adj" fmla="val 15000"/>
            </a:avLst>
          </a:prstGeom>
          <a:solidFill>
            <a:srgbClr val="F6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4600" y="2273300"/>
            <a:ext cx="2209800" cy="596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1E2A44"/>
                </a:solidFill>
                <a:latin typeface="Arial"/>
              </a:rPr>
              <a:t>Напоминания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5905500" y="3098800"/>
            <a:ext cx="228600" cy="342900"/>
          </a:xfrm>
          <a:prstGeom prst="downArrow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Up Arrow 14"/>
          <p:cNvSpPr/>
          <p:nvPr/>
        </p:nvSpPr>
        <p:spPr>
          <a:xfrm>
            <a:off x="6286500" y="3098800"/>
            <a:ext cx="228600" cy="342900"/>
          </a:xfrm>
          <a:prstGeom prst="upArrow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2800" y="3492500"/>
            <a:ext cx="10566400" cy="952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2800" y="3492500"/>
            <a:ext cx="88900" cy="952500"/>
          </a:xfrm>
          <a:prstGeom prst="rect">
            <a:avLst/>
          </a:prstGeom>
          <a:solidFill>
            <a:srgbClr val="2F6F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2200" y="3683000"/>
            <a:ext cx="2413000" cy="317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E2A44"/>
                </a:solidFill>
                <a:latin typeface="Arial"/>
              </a:rPr>
              <a:t>Логика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2200" y="4051300"/>
            <a:ext cx="2413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A5568"/>
                </a:solidFill>
                <a:latin typeface="Arial"/>
              </a:rPr>
              <a:t>мозг · JavaScript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83000" y="3670300"/>
            <a:ext cx="2413000" cy="596900"/>
          </a:xfrm>
          <a:prstGeom prst="roundRect">
            <a:avLst>
              <a:gd name="adj" fmla="val 15000"/>
            </a:avLst>
          </a:prstGeom>
          <a:solidFill>
            <a:srgbClr val="F6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84600" y="3670300"/>
            <a:ext cx="2209800" cy="596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1E2A44"/>
                </a:solidFill>
                <a:latin typeface="Arial"/>
              </a:rPr>
              <a:t>Модуль заданий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23000" y="3670300"/>
            <a:ext cx="2413000" cy="596900"/>
          </a:xfrm>
          <a:prstGeom prst="roundRect">
            <a:avLst>
              <a:gd name="adj" fmla="val 15000"/>
            </a:avLst>
          </a:prstGeom>
          <a:solidFill>
            <a:srgbClr val="F6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24600" y="3670300"/>
            <a:ext cx="2209800" cy="596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1E2A44"/>
                </a:solidFill>
                <a:latin typeface="Arial"/>
              </a:rPr>
              <a:t>Проверка напоминаний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63000" y="3670300"/>
            <a:ext cx="2413000" cy="596900"/>
          </a:xfrm>
          <a:prstGeom prst="roundRect">
            <a:avLst>
              <a:gd name="adj" fmla="val 15000"/>
            </a:avLst>
          </a:prstGeom>
          <a:solidFill>
            <a:srgbClr val="F6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4600" y="3670300"/>
            <a:ext cx="2209800" cy="596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1E2A44"/>
                </a:solidFill>
                <a:latin typeface="Arial"/>
              </a:rPr>
              <a:t>Модуль статистики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5905500" y="4495800"/>
            <a:ext cx="228600" cy="342900"/>
          </a:xfrm>
          <a:prstGeom prst="downArrow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Up Arrow 26"/>
          <p:cNvSpPr/>
          <p:nvPr/>
        </p:nvSpPr>
        <p:spPr>
          <a:xfrm>
            <a:off x="6286500" y="4495800"/>
            <a:ext cx="228600" cy="342900"/>
          </a:xfrm>
          <a:prstGeom prst="upArrow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12800" y="4889500"/>
            <a:ext cx="10566400" cy="952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2800" y="4889500"/>
            <a:ext cx="88900" cy="952500"/>
          </a:xfrm>
          <a:prstGeom prst="rect">
            <a:avLst/>
          </a:prstGeom>
          <a:solidFill>
            <a:srgbClr val="1E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2200" y="5080000"/>
            <a:ext cx="2413000" cy="317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E2A44"/>
                </a:solidFill>
                <a:latin typeface="Arial"/>
              </a:rPr>
              <a:t>Данные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2200" y="5448300"/>
            <a:ext cx="2413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A5568"/>
                </a:solidFill>
                <a:latin typeface="Arial"/>
              </a:rPr>
              <a:t>память · хранилище браузера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83000" y="5067300"/>
            <a:ext cx="2413000" cy="596900"/>
          </a:xfrm>
          <a:prstGeom prst="roundRect">
            <a:avLst>
              <a:gd name="adj" fmla="val 15000"/>
            </a:avLst>
          </a:prstGeom>
          <a:solidFill>
            <a:srgbClr val="F6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84600" y="5067300"/>
            <a:ext cx="2209800" cy="596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1E2A44"/>
                </a:solidFill>
                <a:latin typeface="Arial"/>
              </a:rPr>
              <a:t>Задания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23000" y="5067300"/>
            <a:ext cx="2413000" cy="596900"/>
          </a:xfrm>
          <a:prstGeom prst="roundRect">
            <a:avLst>
              <a:gd name="adj" fmla="val 15000"/>
            </a:avLst>
          </a:prstGeom>
          <a:solidFill>
            <a:srgbClr val="F6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24600" y="5067300"/>
            <a:ext cx="2209800" cy="596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1E2A44"/>
                </a:solidFill>
                <a:latin typeface="Arial"/>
              </a:rPr>
              <a:t>Шаги заданий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763000" y="5067300"/>
            <a:ext cx="2413000" cy="596900"/>
          </a:xfrm>
          <a:prstGeom prst="roundRect">
            <a:avLst>
              <a:gd name="adj" fmla="val 15000"/>
            </a:avLst>
          </a:prstGeom>
          <a:solidFill>
            <a:srgbClr val="F6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64600" y="5067300"/>
            <a:ext cx="2209800" cy="596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1E2A44"/>
                </a:solidFill>
                <a:latin typeface="Arial"/>
              </a:rPr>
              <a:t>Настройки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2994A"/>
                </a:solidFill>
                <a:latin typeface="Arial"/>
              </a:rPr>
              <a:t>КАК ЭТО РАБОТАЕТ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17600"/>
            <a:ext cx="105664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F6F4EE"/>
                </a:solidFill>
                <a:latin typeface="Arial"/>
              </a:rPr>
              <a:t>Одна неделя с приложением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2800" y="2540000"/>
            <a:ext cx="1993900" cy="2540000"/>
          </a:xfrm>
          <a:prstGeom prst="roundRect">
            <a:avLst>
              <a:gd name="adj" fmla="val 6000"/>
            </a:avLst>
          </a:prstGeom>
          <a:solidFill>
            <a:srgbClr val="2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730500"/>
            <a:ext cx="15875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2994A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3429000"/>
            <a:ext cx="1587500" cy="1587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F6F4EE"/>
                </a:solidFill>
                <a:latin typeface="Arial"/>
              </a:rPr>
              <a:t>Открываю сайт и выбираю время напоминаний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59100" y="2540000"/>
            <a:ext cx="1993900" cy="2540000"/>
          </a:xfrm>
          <a:prstGeom prst="roundRect">
            <a:avLst>
              <a:gd name="adj" fmla="val 6000"/>
            </a:avLst>
          </a:prstGeom>
          <a:solidFill>
            <a:srgbClr val="2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62300" y="2730500"/>
            <a:ext cx="15875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2994A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62300" y="3429000"/>
            <a:ext cx="1587500" cy="1587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F6F4EE"/>
                </a:solidFill>
                <a:latin typeface="Arial"/>
              </a:rPr>
              <a:t>Добавляю: «Алгебра, № 215» на четверг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05400" y="2540000"/>
            <a:ext cx="1993900" cy="2540000"/>
          </a:xfrm>
          <a:prstGeom prst="roundRect">
            <a:avLst>
              <a:gd name="adj" fmla="val 6000"/>
            </a:avLst>
          </a:prstGeom>
          <a:solidFill>
            <a:srgbClr val="2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8600" y="2730500"/>
            <a:ext cx="15875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2994A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8600" y="3429000"/>
            <a:ext cx="1587500" cy="1587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F6F4EE"/>
                </a:solidFill>
                <a:latin typeface="Arial"/>
              </a:rPr>
              <a:t>В среду в 18:00 приложение напоминает о задании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51700" y="2540000"/>
            <a:ext cx="1993900" cy="2540000"/>
          </a:xfrm>
          <a:prstGeom prst="roundRect">
            <a:avLst>
              <a:gd name="adj" fmla="val 6000"/>
            </a:avLst>
          </a:prstGeom>
          <a:solidFill>
            <a:srgbClr val="2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54900" y="2730500"/>
            <a:ext cx="15875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2994A"/>
                </a:solidFill>
                <a:latin typeface="Arial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4900" y="3429000"/>
            <a:ext cx="1587500" cy="1587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F6F4EE"/>
                </a:solidFill>
                <a:latin typeface="Arial"/>
              </a:rPr>
              <a:t>Делаю и отмечаю задание выполненным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98000" y="2540000"/>
            <a:ext cx="1993900" cy="2540000"/>
          </a:xfrm>
          <a:prstGeom prst="roundRect">
            <a:avLst>
              <a:gd name="adj" fmla="val 6000"/>
            </a:avLst>
          </a:prstGeom>
          <a:solidFill>
            <a:srgbClr val="2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0" y="2730500"/>
            <a:ext cx="15875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2994A"/>
                </a:solidFill>
                <a:latin typeface="Arial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3429000"/>
            <a:ext cx="1587500" cy="1587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F6F4EE"/>
                </a:solidFill>
                <a:latin typeface="Arial"/>
              </a:rPr>
              <a:t>В воскресенье смотрю итоги недели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800" y="5461000"/>
            <a:ext cx="10566400" cy="317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C9D3E6"/>
                </a:solidFill>
                <a:latin typeface="Arial"/>
              </a:rPr>
              <a:t>Работает в любом браузере — на телефоне и компьютере, без установки и регистрации.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07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1651000"/>
            <a:ext cx="10160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E2A44"/>
                </a:solidFill>
                <a:latin typeface="Arial"/>
              </a:rPr>
              <a:t>ГИПОТЕЗА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2095500"/>
            <a:ext cx="10160000" cy="355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1E2A44"/>
                </a:solidFill>
                <a:latin typeface="Arial"/>
              </a:rPr>
              <a:t>Если ученики будут записывать домашние задания в веб-приложение и получать напоминания, то они станут реже забывать о заданиях и реже делать их в последний вечер.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4531F"/>
                </a:solidFill>
                <a:latin typeface="Arial"/>
              </a:rPr>
              <a:t>ПРОВЕРКА ГИПОТЕЗЫ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17600"/>
            <a:ext cx="105664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1E2A44"/>
                </a:solidFill>
                <a:latin typeface="Arial"/>
              </a:rPr>
              <a:t>Эксперимент с одноклассниками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12800" y="2095500"/>
          <a:ext cx="10566400" cy="26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7000"/>
                <a:gridCol w="4064000"/>
                <a:gridCol w="3835400"/>
              </a:tblGrid>
              <a:tr h="66675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6F4EE"/>
                          </a:solidFill>
                          <a:latin typeface="Arial"/>
                        </a:rPr>
                        <a:t>Этап</a:t>
                      </a:r>
                    </a:p>
                  </a:txBody>
                  <a:tcPr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6F4EE"/>
                          </a:solidFill>
                          <a:latin typeface="Arial"/>
                        </a:rPr>
                        <a:t>Что делаем</a:t>
                      </a:r>
                    </a:p>
                  </a:txBody>
                  <a:tcPr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6F4EE"/>
                          </a:solidFill>
                          <a:latin typeface="Arial"/>
                        </a:rPr>
                        <a:t>Что считаем</a:t>
                      </a:r>
                    </a:p>
                  </a:txBody>
                  <a:tcPr>
                    <a:solidFill>
                      <a:srgbClr val="1E2A44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A44"/>
                          </a:solidFill>
                          <a:latin typeface="Arial"/>
                        </a:rPr>
                        <a:t>1. Без приложения, 2 недели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A44"/>
                          </a:solidFill>
                          <a:latin typeface="Arial"/>
                        </a:rPr>
                        <a:t>[10] учеников учатся как обычно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A44"/>
                          </a:solidFill>
                          <a:latin typeface="Arial"/>
                        </a:rPr>
                        <a:t>Забытые задания и задания «в последний вечер»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A44"/>
                          </a:solidFill>
                          <a:latin typeface="Arial"/>
                        </a:rPr>
                        <a:t>2. С приложением, 2 недели</a:t>
                      </a:r>
                    </a:p>
                  </a:txBody>
                  <a:tcPr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A44"/>
                          </a:solidFill>
                          <a:latin typeface="Arial"/>
                        </a:rPr>
                        <a:t>Те же ученики пользуются приложением</a:t>
                      </a:r>
                    </a:p>
                  </a:txBody>
                  <a:tcPr>
                    <a:solidFill>
                      <a:srgbClr val="F6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A44"/>
                          </a:solidFill>
                          <a:latin typeface="Arial"/>
                        </a:rPr>
                        <a:t>Те же показатели</a:t>
                      </a:r>
                    </a:p>
                  </a:txBody>
                  <a:tcPr>
                    <a:solidFill>
                      <a:srgbClr val="F6F4EE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A44"/>
                          </a:solidFill>
                          <a:latin typeface="Arial"/>
                        </a:rPr>
                        <a:t>3. Анкета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A44"/>
                          </a:solidFill>
                          <a:latin typeface="Arial"/>
                        </a:rPr>
                        <a:t>Спрашиваем, удобно ли приложение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A44"/>
                          </a:solidFill>
                          <a:latin typeface="Arial"/>
                        </a:rPr>
                        <a:t>Оценка удобства от 1 до 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12800" y="5016500"/>
            <a:ext cx="10566400" cy="889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DE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800" y="5016500"/>
            <a:ext cx="76200" cy="889000"/>
          </a:xfrm>
          <a:prstGeom prst="rect">
            <a:avLst/>
          </a:prstGeom>
          <a:solidFill>
            <a:srgbClr val="2F6F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2200" y="5016500"/>
            <a:ext cx="10096500" cy="889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E2A44"/>
                </a:solidFill>
                <a:latin typeface="Arial"/>
              </a:rPr>
              <a:t>Гипотеза подтвердится, если на втором этапе забытых заданий станет меньше, чем на первом. Результат: [заполнить после эксперимента]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509000" y="0"/>
            <a:ext cx="3683000" cy="6858000"/>
          </a:xfrm>
          <a:prstGeom prst="rect">
            <a:avLst/>
          </a:prstGeom>
          <a:solidFill>
            <a:srgbClr val="E0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080500" y="1778000"/>
            <a:ext cx="2540000" cy="25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7500" y="1905000"/>
            <a:ext cx="2286000" cy="2286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36000" y="4508500"/>
            <a:ext cx="3429000" cy="63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1E2A44"/>
                </a:solidFill>
                <a:latin typeface="Arial"/>
              </a:rPr>
              <a:t>Наведите камеру телефона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2800" y="1905000"/>
            <a:ext cx="6985000" cy="190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>
                <a:solidFill>
                  <a:srgbClr val="F6F4EE"/>
                </a:solidFill>
                <a:latin typeface="Arial"/>
              </a:rPr>
              <a:t>Спасибо за внимание!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" y="3810000"/>
            <a:ext cx="6985000" cy="444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C9D3E6"/>
                </a:solidFill>
                <a:latin typeface="Arial"/>
              </a:rPr>
              <a:t>Готов ответить на ваши вопросы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800" y="4572000"/>
            <a:ext cx="6985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2994A"/>
                </a:solidFill>
                <a:latin typeface="Arial"/>
              </a:rPr>
              <a:t>ПРИЛОЖЕНИЕ ОНЛАЙН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800" y="4889500"/>
            <a:ext cx="7302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6F4EE"/>
                </a:solidFill>
                <a:latin typeface="Arial"/>
              </a:rPr>
              <a:t>komissar-dev.github.io/Dzhasimov-homework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